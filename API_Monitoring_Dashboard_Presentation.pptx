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914400"/>
            <a:ext cx="4114800" cy="4114800"/>
          </a:xfrm>
          <a:prstGeom prst="ellipse">
            <a:avLst/>
          </a:prstGeom>
          <a:solidFill>
            <a:srgbClr val="E9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23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Plus Jakarta Sans"/>
              </a:defRPr>
            </a:pPr>
            <a:r>
              <a:t>API Monitoring &amp;</a:t>
            </a:r>
            <a:br/>
            <a:r>
              <a:t>Performance Analysis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5F0"/>
                </a:solidFill>
                <a:latin typeface="Inter"/>
              </a:defRPr>
            </a:pPr>
            <a:r>
              <a:t>A real-time, interactive web platform to surveil API health, measure latency, track HTTP status codes, and analyze historical performance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9966960" cy="13716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5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Student Name: [Your Name]      |      Roll No: [Your Roll Number]      |      Department: Computer Science &amp; Engineering</a:t>
            </a:r>
          </a:p>
          <a:p>
            <a:pPr>
              <a:spcBef>
                <a:spcPts val="800"/>
              </a:spcBef>
              <a:defRPr sz="1200">
                <a:solidFill>
                  <a:srgbClr val="7D849B"/>
                </a:solidFill>
                <a:latin typeface="Inter"/>
              </a:defRPr>
            </a:pPr>
            <a:r>
              <a:t>College / University: [Your Institution Name]      |      Project Guide: [Faculty Mentor Name]</a:t>
            </a:r>
          </a:p>
          <a:p>
            <a:pPr>
              <a:spcBef>
                <a:spcPts val="600"/>
              </a:spcBef>
              <a:defRPr sz="1100">
                <a:solidFill>
                  <a:srgbClr val="FF5E62"/>
                </a:solidFill>
                <a:latin typeface="Plus Jakarta Sans"/>
              </a:defRPr>
            </a:pPr>
            <a:r>
              <a:t>Tech Stack: HTML5, CSS3, JavaScript (ES6+), Chart.js, PHP,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Presentation Agenda &amp;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920240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7830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Project Overview &amp; Problem Statement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Challenges in API reliability and manual monitoring limits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920240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7830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Core Objectives &amp; Key Requirements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Key capabilities, tracking metrics, and user goals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3017520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803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System Architecture &amp; Data Flow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Client-to-server request cycle, cURL polling, and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4320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3017520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8803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Modern UI &amp; Interactive Dashboard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Reference-inspired FinTech layout, wave charts, and tabs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4048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4114800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9776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Health Classification &amp; SLA Thresholds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Healthy (&lt;500ms), Slow (500-2000ms), and Failed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840480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114800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9776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Database Design &amp; Entity Relationships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Relational schema for endpoints and diagnostic logs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37759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1560" y="5212079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0749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Module Breakdown &amp; Implementation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Dashboard, Management, Live Monitoring, History, 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937759"/>
            <a:ext cx="5029200" cy="96012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5212079"/>
            <a:ext cx="548640" cy="41148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0749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Testing, Results &amp; Future Roadmap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Validation across edge cases and planned enhancements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Problem Statement &amp; Project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73152" cy="1554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lus Jakarta Sans"/>
              </a:defRPr>
            </a:pPr>
            <a:r>
              <a:t>The Growing Dependency on APIs</a:t>
            </a:r>
          </a:p>
          <a:p>
            <a:pPr>
              <a:spcBef>
                <a:spcPts val="800"/>
              </a:spcBef>
              <a:defRPr sz="1200">
                <a:solidFill>
                  <a:srgbClr val="E2E5F0"/>
                </a:solidFill>
                <a:latin typeface="Inter"/>
              </a:defRPr>
            </a:pPr>
            <a:r>
              <a:t>Modern web and mobile architectures rely heavily on third-party and microservice APIs (authentication, payments, data feeds, cloud compute).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82880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lus Jakarta Sans"/>
              </a:defRPr>
            </a:pPr>
            <a:r>
              <a:t>The Problem of Silent Failures</a:t>
            </a:r>
          </a:p>
          <a:p>
            <a:pPr>
              <a:spcBef>
                <a:spcPts val="800"/>
              </a:spcBef>
              <a:defRPr sz="1200">
                <a:solidFill>
                  <a:srgbClr val="E2E5F0"/>
                </a:solidFill>
                <a:latin typeface="Inter"/>
              </a:defRPr>
            </a:pPr>
            <a:r>
              <a:t>APIs frequently experience silent downtime, DNS issues, or elevated latency that directly degrade end-user experience before developers are notified.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02336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lus Jakarta Sans"/>
              </a:defRPr>
            </a:pPr>
            <a:r>
              <a:t>Lack of Lightweight Diagnostic Tools</a:t>
            </a:r>
          </a:p>
          <a:p>
            <a:pPr>
              <a:spcBef>
                <a:spcPts val="800"/>
              </a:spcBef>
              <a:defRPr sz="1200">
                <a:solidFill>
                  <a:srgbClr val="E2E5F0"/>
                </a:solidFill>
                <a:latin typeface="Inter"/>
              </a:defRPr>
            </a:pPr>
            <a:r>
              <a:t>Enterprise APM suites (Datadog, New Relic) are overly complex and costly for intermediate projects, college labs, and emerging developers.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023360"/>
            <a:ext cx="73152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Plus Jakarta Sans"/>
              </a:defRPr>
            </a:pPr>
            <a:r>
              <a:t>The Proposed Solution</a:t>
            </a:r>
          </a:p>
          <a:p>
            <a:pPr>
              <a:spcBef>
                <a:spcPts val="800"/>
              </a:spcBef>
              <a:defRPr sz="1200">
                <a:solidFill>
                  <a:srgbClr val="E2E5F0"/>
                </a:solidFill>
                <a:latin typeface="Inter"/>
              </a:defRPr>
            </a:pPr>
            <a:r>
              <a:t>A streamlined, self-hosted web dashboard providing instant health status, latency tracking, historical trend charts, and one-click diagnostic checks.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Project Objectives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1874519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23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GOAL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Centralized Endpoint Registry</a:t>
            </a:r>
          </a:p>
          <a:p>
            <a:pPr>
              <a:spcBef>
                <a:spcPts val="600"/>
              </a:spcBef>
              <a:defRPr sz="1100">
                <a:solidFill>
                  <a:srgbClr val="7D849B"/>
                </a:solidFill>
                <a:latin typeface="Inter"/>
              </a:defRPr>
            </a:pPr>
            <a:r>
              <a:t>Register REST APIs with custom names, endpoints, and HTTP methods (GET, POST, PUT, DELETE).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1874519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23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GOAL 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Automated Latency &amp; Health Checks</a:t>
            </a:r>
          </a:p>
          <a:p>
            <a:pPr>
              <a:spcBef>
                <a:spcPts val="600"/>
              </a:spcBef>
              <a:defRPr sz="1100">
                <a:solidFill>
                  <a:srgbClr val="7D849B"/>
                </a:solidFill>
                <a:latin typeface="Inter"/>
              </a:defRPr>
            </a:pPr>
            <a:r>
              <a:t>Measure response duration in milliseconds and verify HTTP response codes (200 OK, 404, 500).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874519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23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GOAL #3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Health Categorization Matrix</a:t>
            </a:r>
          </a:p>
          <a:p>
            <a:pPr>
              <a:spcBef>
                <a:spcPts val="600"/>
              </a:spcBef>
              <a:defRPr sz="1100">
                <a:solidFill>
                  <a:srgbClr val="7D849B"/>
                </a:solidFill>
                <a:latin typeface="Inter"/>
              </a:defRPr>
            </a:pPr>
            <a:r>
              <a:t>Classify responses dynamically as Healthy (&lt;500ms), Slow (500-2000ms), or Failed.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4048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406908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23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GOAL 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52628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Historical Log Persistence</a:t>
            </a:r>
          </a:p>
          <a:p>
            <a:pPr>
              <a:spcBef>
                <a:spcPts val="600"/>
              </a:spcBef>
              <a:defRPr sz="1100">
                <a:solidFill>
                  <a:srgbClr val="7D849B"/>
                </a:solidFill>
                <a:latin typeface="Inter"/>
              </a:defRPr>
            </a:pPr>
            <a:r>
              <a:t>Log every check event to MySQL database with timestamped status and latency records.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4048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406908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23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GOAL #5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2628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Visual Performance Analytics</a:t>
            </a:r>
          </a:p>
          <a:p>
            <a:pPr>
              <a:spcBef>
                <a:spcPts val="600"/>
              </a:spcBef>
              <a:defRPr sz="1100">
                <a:solidFill>
                  <a:srgbClr val="7D849B"/>
                </a:solidFill>
                <a:latin typeface="Inter"/>
              </a:defRPr>
            </a:pPr>
            <a:r>
              <a:t>Interactive Chart.js visualizations including latency waves, health donuts, and weekly bars.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384048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406908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23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5E62"/>
                </a:solidFill>
                <a:latin typeface="Plus Jakarta Sans"/>
              </a:defRPr>
            </a:pPr>
            <a:r>
              <a:t>GOAL #6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80"/>
            <a:ext cx="2880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Modern Responsive Design</a:t>
            </a:r>
          </a:p>
          <a:p>
            <a:pPr>
              <a:spcBef>
                <a:spcPts val="600"/>
              </a:spcBef>
              <a:defRPr sz="1100">
                <a:solidFill>
                  <a:srgbClr val="7D849B"/>
                </a:solidFill>
                <a:latin typeface="Inter"/>
              </a:defRPr>
            </a:pPr>
            <a:r>
              <a:t>Centered, warm sand layout inspired by premier analytics dashboards with full dark/light theme support.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Three-Tier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337560" cy="41148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05740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PRESENTATION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39"/>
            <a:ext cx="2788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Plus Jakarta Sans"/>
              </a:defRPr>
            </a:pPr>
            <a:r>
              <a:t>Client-Side Frontend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HTML5 &amp; CSS3: Modern centered canvas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JavaScript ES6: fetch() async dispatch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Chart.js: Multi-line waves &amp; donut charts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Responsive &amp; Dark/Light mode theme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337560" cy="41148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7720" y="205740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06039"/>
            <a:ext cx="2788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Plus Jakarta Sans"/>
              </a:defRPr>
            </a:pPr>
            <a:r>
              <a:t>PHP 8 Backend Engine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cURL HTTP Handler: Real network pings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Latency Calculator: High-res microtime()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Status Classifier: Healthy / Slow / Failed logic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RESTful JSON API: Clean response payloads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737360"/>
            <a:ext cx="3337560" cy="41148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2057400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DATA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06039"/>
            <a:ext cx="2788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Plus Jakarta Sans"/>
              </a:defRPr>
            </a:pPr>
            <a:r>
              <a:t>MySQL Relational DB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apis Table: Endpoint registry &amp; metadata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api_history Table: Chronological audit logs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Foreign Key: api_id -&gt; apis(id) with Cascade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•  Indexed queries for lightning-fast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Modern Dashboard Design &amp; Visual Aesthetics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788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Floating Obsidian Sidebar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82px icon-only navigation rail with smooth pill active states and white indicator dot.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788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Sunset Gradient Hero Card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Vibrant coral-to-magenta card displaying total requests with embedded multi-color wave 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920240"/>
            <a:ext cx="2788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Health Breakdown Donut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Segmented donut visual with healthy/slow/failed status and centered 3D diagnostic icon.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2788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Performance Stats Bar Chart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Weekly rounded pill bars (M-T-W-T-F-S-S) with a highlighted peak day and overlaid trend curve.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4048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114800"/>
            <a:ext cx="2788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Centered Balanced Layout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Clean sand/oat background, zero blank space on wide screens, perfectly centered canvas.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840480"/>
            <a:ext cx="3337560" cy="196596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114800"/>
            <a:ext cx="2788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Interactive Tabbed Activity List</a:t>
            </a:r>
          </a:p>
          <a:p>
            <a:pPr>
              <a:spcBef>
                <a:spcPts val="800"/>
              </a:spcBef>
              <a:defRPr sz="1100">
                <a:solidFill>
                  <a:srgbClr val="E2E5F0"/>
                </a:solidFill>
                <a:latin typeface="Inter"/>
              </a:defRPr>
            </a:pPr>
            <a:r>
              <a:t>Category pills, response time badges, trend arrows (+8%, -4%), and direct check buttons.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API Health Classification &amp; SLA Thresholds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337560" cy="41148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278892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STATUS: OPTIMAL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788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lus Jakarta Sans"/>
              </a:defRPr>
            </a:pPr>
            <a:r>
              <a:t>HEALTHY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Plus Jakarta Sans"/>
              </a:defRPr>
            </a:pPr>
            <a:r>
              <a:t>Latency Range: &lt; 500 ms</a:t>
            </a:r>
          </a:p>
          <a:p>
            <a:pPr>
              <a:spcBef>
                <a:spcPts val="1400"/>
              </a:spcBef>
              <a:defRPr sz="1200">
                <a:solidFill>
                  <a:srgbClr val="E2E5F0"/>
                </a:solidFill>
                <a:latin typeface="Inter"/>
              </a:defRPr>
            </a:pPr>
            <a:r>
              <a:t>API responded with HTTP 2xx and fast turnaround time within optimal SLA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337560" cy="41148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7720" y="2103120"/>
            <a:ext cx="278892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STATUS: DEGRADED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743200"/>
            <a:ext cx="2788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lus Jakarta Sans"/>
              </a:defRPr>
            </a:pPr>
            <a:r>
              <a:t>SLOW</a:t>
            </a:r>
          </a:p>
          <a:p>
            <a:pPr>
              <a:spcBef>
                <a:spcPts val="800"/>
              </a:spcBef>
              <a:defRPr sz="1400" b="1">
                <a:solidFill>
                  <a:srgbClr val="F59E0B"/>
                </a:solidFill>
                <a:latin typeface="Plus Jakarta Sans"/>
              </a:defRPr>
            </a:pPr>
            <a:r>
              <a:t>Latency Range: 500 - 2000 ms</a:t>
            </a:r>
          </a:p>
          <a:p>
            <a:pPr>
              <a:spcBef>
                <a:spcPts val="1400"/>
              </a:spcBef>
              <a:defRPr sz="1200">
                <a:solidFill>
                  <a:srgbClr val="E2E5F0"/>
                </a:solidFill>
                <a:latin typeface="Inter"/>
              </a:defRPr>
            </a:pPr>
            <a:r>
              <a:t>API returned valid response, but latency indicates server load, network bottlenecks, or unoptimized queries.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737360"/>
            <a:ext cx="3337560" cy="411480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2103120"/>
            <a:ext cx="2788920" cy="4114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STATUS: 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743200"/>
            <a:ext cx="2788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lus Jakarta Sans"/>
              </a:defRPr>
            </a:pPr>
            <a:r>
              <a:t>FAILED</a:t>
            </a:r>
          </a:p>
          <a:p>
            <a:pPr>
              <a:spcBef>
                <a:spcPts val="800"/>
              </a:spcBef>
              <a:defRPr sz="1400" b="1">
                <a:solidFill>
                  <a:srgbClr val="EF4444"/>
                </a:solidFill>
                <a:latin typeface="Plus Jakarta Sans"/>
              </a:defRPr>
            </a:pPr>
            <a:r>
              <a:t>Latency Range: Error / Timeout</a:t>
            </a:r>
          </a:p>
          <a:p>
            <a:pPr>
              <a:spcBef>
                <a:spcPts val="1400"/>
              </a:spcBef>
              <a:defRPr sz="1200">
                <a:solidFill>
                  <a:srgbClr val="E2E5F0"/>
                </a:solidFill>
                <a:latin typeface="Inter"/>
              </a:defRPr>
            </a:pPr>
            <a:r>
              <a:t>HTTP 4xx/5xx error, DNS resolution failure, network timeout, or connection refused.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Database Architecture &amp; ER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4206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874519"/>
            <a:ext cx="1645920" cy="32004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TABLE: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id (INT AUTO_INCREMENT PRIMARY KEY)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Unique endpoint identifier</a:t>
            </a:r>
          </a:p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name (VARCHAR(100) NOT NULL)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Human-readable API service title</a:t>
            </a:r>
          </a:p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url (VARCHAR(500) NOT NULL)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Endpoint URL target</a:t>
            </a:r>
          </a:p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method (VARCHAR(10) DEFAULT 'GET')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HTTP verb: GET, POST, PUT, DELETE</a:t>
            </a:r>
          </a:p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created_at (TIMESTAMP DEFAULT CURRENT_TIMESTAMP)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Registration record creation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029200" cy="4206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1874519"/>
            <a:ext cx="219456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TABLE: api_history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id (INT AUTO_INCREMENT PRIMARY KEY)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Unique check log sequence id</a:t>
            </a:r>
          </a:p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api_id (INT NOT NULL (FOREIGN KEY))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References apis(id) ON DELETE CASCADE</a:t>
            </a:r>
          </a:p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status_code (INT NOT NULL)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HTTP return code (200, 404, 500, 0)</a:t>
            </a:r>
          </a:p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response_time (FLOAT NOT NULL)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Measured round-trip latency in ms</a:t>
            </a:r>
          </a:p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status (VARCHAR(20) NOT NULL)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Health state: Healthy, Slow, Failed</a:t>
            </a:r>
          </a:p>
          <a:p>
            <a:pPr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• checked_at (TIMESTAMP DEFAULT CURRENT_TIMESTAMP)</a:t>
            </a:r>
          </a:p>
          <a:p>
            <a:pPr>
              <a:defRPr sz="1000">
                <a:solidFill>
                  <a:srgbClr val="7D849B"/>
                </a:solidFill>
                <a:latin typeface="Inter"/>
              </a:defRPr>
            </a:pPr>
            <a:r>
              <a:t>   Timestamp of ping invocation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Application Functional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Dashboard Module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Central command hub featuring the sunset wave hero card, health donut breakdown, weekly performance stats, and live activity feed.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API Management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CRUD interface allowing users to register new endpoints, validate unique URLs, specify HTTP methods, and securely remove old endpoints.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Live Monitor Module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Direct diagnostic cards for every endpoint. Supports one-click 'Ping Now' checks and bulk asynchronous 'Check All'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0896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History Log Module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Chronological audit table with multi-tier filters (by API name and health category) for retrospective investigation.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7200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Analytics &amp; Trends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Comprehensive charts showing latency over time, success-to-failure ratios, and side-by-side performance comparisons across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57200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5E62"/>
                </a:solidFill>
                <a:latin typeface="Plus Jakarta Sans"/>
              </a:defRPr>
            </a:pPr>
            <a:r>
              <a:t>Notification &amp; Themes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Toast messaging engine for immediate check feedback, global search filter, and localStorage-persisted dark/light themes.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Testing Strategy &amp; Verification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9202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810512"/>
            <a:ext cx="4160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TC-01: Valid Fast Endpoint</a:t>
            </a:r>
          </a:p>
          <a:p>
            <a:pPr>
              <a:spcBef>
                <a:spcPts val="200"/>
              </a:spcBef>
              <a:defRPr sz="1000">
                <a:solidFill>
                  <a:srgbClr val="7D849B"/>
                </a:solidFill>
                <a:latin typeface="Inter"/>
              </a:defRPr>
            </a:pPr>
            <a:r>
              <a:t>Target: JSONPlaceholder Users (HTTP 200, 142ms)</a:t>
            </a:r>
          </a:p>
          <a:p>
            <a:pPr>
              <a:spcBef>
                <a:spcPts val="300"/>
              </a:spcBef>
              <a:defRPr sz="1050" b="1">
                <a:solidFill>
                  <a:srgbClr val="10B981"/>
                </a:solidFill>
                <a:latin typeface="Plus Jakarta Sans"/>
              </a:defRPr>
            </a:pPr>
            <a:r>
              <a:t>PASS - Classified as Healthy (&lt;500ms)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0" y="1920240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810512"/>
            <a:ext cx="4160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TC-02: Elevated Latency API</a:t>
            </a:r>
          </a:p>
          <a:p>
            <a:pPr>
              <a:spcBef>
                <a:spcPts val="200"/>
              </a:spcBef>
              <a:defRPr sz="1000">
                <a:solidFill>
                  <a:srgbClr val="7D849B"/>
                </a:solidFill>
                <a:latin typeface="Inter"/>
              </a:defRPr>
            </a:pPr>
            <a:r>
              <a:t>Target: ReqRes Users (HTTP 200, 823ms)</a:t>
            </a:r>
          </a:p>
          <a:p>
            <a:pPr>
              <a:spcBef>
                <a:spcPts val="300"/>
              </a:spcBef>
              <a:defRPr sz="1050" b="1">
                <a:solidFill>
                  <a:srgbClr val="F59E0B"/>
                </a:solidFill>
                <a:latin typeface="Plus Jakarta Sans"/>
              </a:defRPr>
            </a:pPr>
            <a:r>
              <a:t>PASS - Classified as Slow (500-2000ms)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0896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3383280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273552"/>
            <a:ext cx="4160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TC-03: Unreachable / Broken URL</a:t>
            </a:r>
          </a:p>
          <a:p>
            <a:pPr>
              <a:spcBef>
                <a:spcPts val="200"/>
              </a:spcBef>
              <a:defRPr sz="1000">
                <a:solidFill>
                  <a:srgbClr val="7D849B"/>
                </a:solidFill>
                <a:latin typeface="Inter"/>
              </a:defRPr>
            </a:pPr>
            <a:r>
              <a:t>Target: Nonexistent domain (HTTP 0, Timeout)</a:t>
            </a:r>
          </a:p>
          <a:p>
            <a:pPr>
              <a:spcBef>
                <a:spcPts val="300"/>
              </a:spcBef>
              <a:defRPr sz="1050" b="1">
                <a:solidFill>
                  <a:srgbClr val="EF4444"/>
                </a:solidFill>
                <a:latin typeface="Plus Jakarta Sans"/>
              </a:defRPr>
            </a:pPr>
            <a:r>
              <a:t>PASS - Classified as Failed, logged 0ms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10896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3383280"/>
            <a:ext cx="182880" cy="182880"/>
          </a:xfrm>
          <a:prstGeom prst="ellipse">
            <a:avLst/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273552"/>
            <a:ext cx="4160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TC-04: Form Validation</a:t>
            </a:r>
          </a:p>
          <a:p>
            <a:pPr>
              <a:spcBef>
                <a:spcPts val="200"/>
              </a:spcBef>
              <a:defRPr sz="1000">
                <a:solidFill>
                  <a:srgbClr val="7D849B"/>
                </a:solidFill>
                <a:latin typeface="Inter"/>
              </a:defRPr>
            </a:pPr>
            <a:r>
              <a:t>Target: Blank Name or Invalid URL input</a:t>
            </a:r>
          </a:p>
          <a:p>
            <a:pPr>
              <a:spcBef>
                <a:spcPts val="300"/>
              </a:spcBef>
              <a:defRPr sz="1050" b="1">
                <a:solidFill>
                  <a:srgbClr val="FF5E62"/>
                </a:solidFill>
                <a:latin typeface="Plus Jakarta Sans"/>
              </a:defRPr>
            </a:pPr>
            <a:r>
              <a:t>PASS - Handled cleanly with Toast warning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846320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736592"/>
            <a:ext cx="4160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TC-05: Duplicate Prevention</a:t>
            </a:r>
          </a:p>
          <a:p>
            <a:pPr>
              <a:spcBef>
                <a:spcPts val="200"/>
              </a:spcBef>
              <a:defRPr sz="1000">
                <a:solidFill>
                  <a:srgbClr val="7D849B"/>
                </a:solidFill>
                <a:latin typeface="Inter"/>
              </a:defRPr>
            </a:pPr>
            <a:r>
              <a:t>Target: Registering existing URL</a:t>
            </a:r>
          </a:p>
          <a:p>
            <a:pPr>
              <a:spcBef>
                <a:spcPts val="300"/>
              </a:spcBef>
              <a:defRPr sz="1050" b="1">
                <a:solidFill>
                  <a:srgbClr val="4F46E5"/>
                </a:solidFill>
                <a:latin typeface="Plus Jakarta Sans"/>
              </a:defRPr>
            </a:pPr>
            <a:r>
              <a:t>PASS - Duplicate warning triggered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57200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48463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736592"/>
            <a:ext cx="4160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TC-06: Bulk Diagnostic Checks</a:t>
            </a:r>
          </a:p>
          <a:p>
            <a:pPr>
              <a:spcBef>
                <a:spcPts val="200"/>
              </a:spcBef>
              <a:defRPr sz="1000">
                <a:solidFill>
                  <a:srgbClr val="7D849B"/>
                </a:solidFill>
                <a:latin typeface="Inter"/>
              </a:defRPr>
            </a:pPr>
            <a:r>
              <a:t>Target: 'Check All APIs' concurrent trigger</a:t>
            </a:r>
          </a:p>
          <a:p>
            <a:pPr>
              <a:spcBef>
                <a:spcPts val="300"/>
              </a:spcBef>
              <a:defRPr sz="1050" b="1">
                <a:solidFill>
                  <a:srgbClr val="10B981"/>
                </a:solidFill>
                <a:latin typeface="Plus Jakarta Sans"/>
              </a:defRPr>
            </a:pPr>
            <a:r>
              <a:t>PASS - Staggered execution with zero race conditions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Key Advantages of the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Plus Jakarta Sans"/>
              </a:defRPr>
            </a:pPr>
            <a:r>
              <a:t>✓  Zero Third-Party Agent Overheads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Operates entirely via standard HTTP pinging without requiring foreign agents or software installed on target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Plus Jakarta Sans"/>
              </a:defRPr>
            </a:pPr>
            <a:r>
              <a:t>✓  High-Fidelity Visual Experience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Aesthetics modeled after modern high-end dashboards: smooth neon wave charts, health donuts, and clean tabs.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Plus Jakarta Sans"/>
              </a:defRPr>
            </a:pPr>
            <a:r>
              <a:t>✓  Non-Intrusive Asynchronous Pinging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Uses client-side fetch() and PHP cURL for non-blocking asynchronous requests with zero page reloads.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10896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Plus Jakarta Sans"/>
              </a:defRPr>
            </a:pPr>
            <a:r>
              <a:t>✓  Lightweight &amp; Beginner-Friendly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Standard web stack (HTML, CSS, JS, PHP, MySQL) that is easy to deploy, audit, and extend for college projects.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7200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Plus Jakarta Sans"/>
              </a:defRPr>
            </a:pPr>
            <a:r>
              <a:t>✓  Complete Audit Trail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Historical performance metrics preserved in MySQL, enabling long-term reliability and SLA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572000"/>
            <a:ext cx="5029200" cy="132588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5488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Plus Jakarta Sans"/>
              </a:defRPr>
            </a:pPr>
            <a:r>
              <a:t>✓  Instant Dark / Light Mode</a:t>
            </a:r>
          </a:p>
          <a:p>
            <a:pPr>
              <a:spcBef>
                <a:spcPts val="400"/>
              </a:spcBef>
              <a:defRPr sz="1050">
                <a:solidFill>
                  <a:srgbClr val="E2E5F0"/>
                </a:solidFill>
                <a:latin typeface="Inter"/>
              </a:defRPr>
            </a:pPr>
            <a:r>
              <a:t>Seamless theme switching preserved in localStorage to accommodate different developer work environments.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Current Limitations &amp; Technical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5E62"/>
                </a:solidFill>
                <a:latin typeface="Plus Jakarta Sans"/>
              </a:defRPr>
            </a:pPr>
            <a:r>
              <a:t>⚠  No Autonomous Background Daemon</a:t>
            </a:r>
          </a:p>
          <a:p>
            <a:pPr>
              <a:spcBef>
                <a:spcPts val="8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Checks currently trigger on-demand from the UI rather than automated system cron jobs (planned for Phase 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Plus Jakarta Sans"/>
              </a:defRPr>
            </a:pPr>
            <a:r>
              <a:t>⚠  Single-Region Latency Vantage Point</a:t>
            </a:r>
          </a:p>
          <a:p>
            <a:pPr>
              <a:spcBef>
                <a:spcPts val="8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Response times reflect network latency from the host server's location rather than a distributed multi-region edge mesh.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8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6908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Plus Jakarta Sans"/>
              </a:defRPr>
            </a:pPr>
            <a:r>
              <a:t>⚠  Unauthenticated Public Endpoints</a:t>
            </a:r>
          </a:p>
          <a:p>
            <a:pPr>
              <a:spcBef>
                <a:spcPts val="8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Current implementation focuses on open REST endpoints without OAuth2 / Bearer token payload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4048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Plus Jakarta Sans"/>
              </a:defRPr>
            </a:pPr>
            <a:r>
              <a:t>⚠  Absence of Webhook / Email Alerts</a:t>
            </a:r>
          </a:p>
          <a:p>
            <a:pPr>
              <a:spcBef>
                <a:spcPts val="8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Alert notifications are currently displayed in-browser via toast alerts rather than automated SMS/Email webhooks.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Future Enhancements &amp; Scaling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874519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Plus Jakarta Sans"/>
              </a:defRPr>
            </a:pPr>
            <a:r>
              <a:t>Automated Cron Daemon</a:t>
            </a:r>
          </a:p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Scheduled cron jobs executing background pings every 60 seconds with zero user interaction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874519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PHASE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Plus Jakarta Sans"/>
              </a:defRPr>
            </a:pPr>
            <a:r>
              <a:t>Multi-Channel Alert Dispatch</a:t>
            </a:r>
          </a:p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Immediate incident notifications sent via Discord Webhooks, Slack channels, Telegram, and Email.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406908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PHASE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2628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Plus Jakarta Sans"/>
              </a:defRPr>
            </a:pPr>
            <a:r>
              <a:t>Header &amp; Auth Token Vault</a:t>
            </a:r>
          </a:p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Support custom headers, API Keys, and Bearer Tokens for private enterprise API surveillance.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029200" cy="1920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406908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PHASE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Plus Jakarta Sans"/>
              </a:defRPr>
            </a:pPr>
            <a:r>
              <a:t>Multi-Region Edge Probing</a:t>
            </a:r>
          </a:p>
          <a:p>
            <a:pPr>
              <a:spcBef>
                <a:spcPts val="600"/>
              </a:spcBef>
              <a:defRPr sz="1150">
                <a:solidFill>
                  <a:srgbClr val="E2E5F0"/>
                </a:solidFill>
                <a:latin typeface="Inter"/>
              </a:defRPr>
            </a:pPr>
            <a:r>
              <a:t>Deploy edge workers in US, EU, and APAC to evaluate global geo-latency and regional outages.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E62"/>
                </a:solidFill>
                <a:latin typeface="Plus Jakarta Sans"/>
              </a:defRPr>
            </a:pPr>
            <a:r>
              <a:t>API MONITORING &amp; PERFORMANCE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lus Jakarta Sans"/>
              </a:defRPr>
            </a:pPr>
            <a:r>
              <a:t>Project Conclusion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4206240"/>
          </a:xfrm>
          <a:prstGeom prst="roundRect">
            <a:avLst>
              <a:gd name="adj" fmla="val 4000"/>
            </a:avLst>
          </a:prstGeom>
          <a:solidFill>
            <a:srgbClr val="161A29"/>
          </a:solidFill>
          <a:ln w="19050">
            <a:solidFill>
              <a:srgbClr val="23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350">
                <a:solidFill>
                  <a:srgbClr val="E2E5F0"/>
                </a:solidFill>
                <a:latin typeface="Inter"/>
              </a:defRPr>
            </a:pPr>
            <a:r>
              <a:t>✔   Successfully developed an end-to-end API Monitoring and Performance Analysis Dashboard demonstrating practical mastery of HTML5, CSS3, JavaScript, PHP, MySQL, and asynchronous API communication.</a:t>
            </a:r>
          </a:p>
          <a:p>
            <a:pPr>
              <a:spcBef>
                <a:spcPts val="1400"/>
              </a:spcBef>
              <a:defRPr sz="1350">
                <a:solidFill>
                  <a:srgbClr val="E2E5F0"/>
                </a:solidFill>
                <a:latin typeface="Inter"/>
              </a:defRPr>
            </a:pPr>
            <a:r>
              <a:t>✔   Integrated a premier visual design inspired by modern FinTech analytics, featuring sunset gradient hero cards, multi-line latency wave charts, segmented health donut breakdowns, and weekly performance bars.</a:t>
            </a:r>
          </a:p>
          <a:p>
            <a:pPr>
              <a:spcBef>
                <a:spcPts val="1400"/>
              </a:spcBef>
              <a:defRPr sz="1350">
                <a:solidFill>
                  <a:srgbClr val="E2E5F0"/>
                </a:solidFill>
                <a:latin typeface="Inter"/>
              </a:defRPr>
            </a:pPr>
            <a:r>
              <a:t>✔   Eliminated manual overhead by offering instant single-click diagnostics and bulk checking for multiple endpoints simultaneously.</a:t>
            </a:r>
          </a:p>
          <a:p>
            <a:pPr>
              <a:spcBef>
                <a:spcPts val="1400"/>
              </a:spcBef>
              <a:defRPr sz="1350">
                <a:solidFill>
                  <a:srgbClr val="E2E5F0"/>
                </a:solidFill>
                <a:latin typeface="Inter"/>
              </a:defRPr>
            </a:pPr>
            <a:r>
              <a:t>✔   Delivered a responsive, centered layout that performs seamlessly across all desktop, tablet, and mobile viewport resolutions.</a:t>
            </a:r>
          </a:p>
          <a:p>
            <a:pPr>
              <a:spcBef>
                <a:spcPts val="1400"/>
              </a:spcBef>
              <a:defRPr sz="1350">
                <a:solidFill>
                  <a:srgbClr val="E2E5F0"/>
                </a:solidFill>
                <a:latin typeface="Inter"/>
              </a:defRPr>
            </a:pPr>
            <a:r>
              <a:t>✔   Constructed an academic project suitable for college viva evaluations, live technical demonstrations, and open-source contribution.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89120" y="1371600"/>
            <a:ext cx="3383280" cy="3383280"/>
          </a:xfrm>
          <a:prstGeom prst="ellipse">
            <a:avLst/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Plus Jakarta Sans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5E62"/>
                </a:solidFill>
                <a:latin typeface="Plus Jakarta San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API Monitoring &amp; Performance Analysis Dashboard</a:t>
            </a:r>
          </a:p>
          <a:p>
            <a:pPr algn="ctr">
              <a:spcBef>
                <a:spcPts val="600"/>
              </a:spcBef>
              <a:defRPr sz="1200">
                <a:solidFill>
                  <a:srgbClr val="E2E5F0"/>
                </a:solidFill>
                <a:latin typeface="Inter"/>
              </a:defRPr>
            </a:pPr>
            <a:r>
              <a:t>GitHub Repository: https://github.com/kavyanand-27/API-MONITOR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D849B"/>
                </a:solidFill>
                <a:latin typeface="Plus Jakarta Sans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